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-2.svg" ContentType="image/svg+xml"/>
  <Override PartName="/ppt/media/image-3-3.svg" ContentType="image/svg+xml"/>
  <Override PartName="/ppt/media/image-8-3.svg" ContentType="image/svg+xml"/>
  <Override PartName="/ppt/media/image-8-5.svg" ContentType="image/svg+xml"/>
  <Override PartName="/ppt/media/image-9-3.svg" ContentType="image/svg+xml"/>
  <Override PartName="/ppt/media/image-9-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latypi Light"/>
      <p:regular r:id="rId201314"/>
    </p:embeddedFont>
    <p:embeddedFont>
      <p:font typeface="Platypi"/>
      <p:regular r:id="rId201315"/>
    </p:embeddedFont>
    <p:embeddedFont>
      <p:font typeface="Platypi Medium"/>
      <p:regular r:id="rId201316"/>
    </p:embeddedFont>
    <p:embeddedFont>
      <p:font typeface="Platypi SemiBold"/>
      <p:regular r:id="rId201317"/>
    </p:embeddedFont>
    <p:embeddedFont>
      <p:font typeface="Platypi Bold"/>
      <p:regular r:id="rId201318"/>
    </p:embeddedFont>
    <p:embeddedFont>
      <p:font typeface="Platypi ExtraBold"/>
      <p:regular r:id="rId201319"/>
    </p:embeddedFont>
    <p:embeddedFont>
      <p:font typeface="Source Serif 4 ExtraLight"/>
      <p:regular r:id="rId201320"/>
    </p:embeddedFont>
    <p:embeddedFont>
      <p:font typeface="Source Serif 4 Light"/>
      <p:regular r:id="rId201321"/>
    </p:embeddedFont>
    <p:embeddedFont>
      <p:font typeface="Source Serif 4"/>
      <p:regular r:id="rId201322"/>
    </p:embeddedFont>
    <p:embeddedFont>
      <p:font typeface="Source Serif 4 Medium"/>
      <p:regular r:id="rId201323"/>
    </p:embeddedFont>
    <p:embeddedFont>
      <p:font typeface="Source Serif 4 SemiBold"/>
      <p:regular r:id="rId201324"/>
    </p:embeddedFont>
    <p:embeddedFont>
      <p:font typeface="Source Serif 4 Bold"/>
      <p:regular r:id="rId201325"/>
    </p:embeddedFont>
    <p:embeddedFont>
      <p:font typeface="Source Serif 4 ExtraBold"/>
      <p:regular r:id="rId201326"/>
    </p:embeddedFont>
    <p:embeddedFont>
      <p:font typeface="Source Serif 4 Black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Relationship Id="rId201322" Type="http://schemas.openxmlformats.org/officeDocument/2006/relationships/font" Target="fonts/201322.fntdata"/><Relationship Id="rId201323" Type="http://schemas.openxmlformats.org/officeDocument/2006/relationships/font" Target="fonts/201323.fntdata"/><Relationship Id="rId201324" Type="http://schemas.openxmlformats.org/officeDocument/2006/relationships/font" Target="fonts/201324.fntdata"/><Relationship Id="rId201325" Type="http://schemas.openxmlformats.org/officeDocument/2006/relationships/font" Target="fonts/201325.fntdata"/><Relationship Id="rId201326" Type="http://schemas.openxmlformats.org/officeDocument/2006/relationships/font" Target="fonts/201326.fntdata"/><Relationship Id="rId201327" Type="http://schemas.openxmlformats.org/officeDocument/2006/relationships/font" Target="fonts/201327.fntdata"/><Relationship Id="rId201328" Type="http://schemas.openxmlformats.org/officeDocument/2006/relationships/font" Target="fonts/201328.fntdata"/><Relationship Id="rId201329" Type="http://schemas.openxmlformats.org/officeDocument/2006/relationships/font" Target="fonts/201329.fntdata"/><Relationship Id="rId201330" Type="http://schemas.openxmlformats.org/officeDocument/2006/relationships/font" Target="fonts/201330.fntdata"/><Relationship Id="rId201331" Type="http://schemas.openxmlformats.org/officeDocument/2006/relationships/font" Target="fonts/201331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4.png"/><Relationship Id="rId7" Type="http://schemas.openxmlformats.org/officeDocument/2006/relationships/image" Target="../media/image-8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4.png"/><Relationship Id="rId7" Type="http://schemas.openxmlformats.org/officeDocument/2006/relationships/image" Target="../media/image-9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rajkumarp0797/dataviz-exercise-Rajkumar" TargetMode="External"/><Relationship Id="rId2" Type="http://schemas.openxmlformats.org/officeDocument/2006/relationships/image" Target="../media/image-10-1.png"/><Relationship Id="rId3" Type="http://schemas.openxmlformats.org/officeDocument/2006/relationships/image" Target="../media/image-10-2.svg"/><Relationship Id="rId4" Type="http://schemas.openxmlformats.org/officeDocument/2006/relationships/image" Target="../media/image-10-1.png"/><Relationship Id="rId5" Type="http://schemas.openxmlformats.org/officeDocument/2006/relationships/image" Target="../media/image-10-2.svg"/><Relationship Id="rId6" Type="http://schemas.openxmlformats.org/officeDocument/2006/relationships/image" Target="../media/image-10-1.png"/><Relationship Id="rId7" Type="http://schemas.openxmlformats.org/officeDocument/2006/relationships/image" Target="../media/image-10-2.svg"/><Relationship Id="rId8" Type="http://schemas.openxmlformats.org/officeDocument/2006/relationships/image" Target="../media/image-10-1.png"/><Relationship Id="rId9" Type="http://schemas.openxmlformats.org/officeDocument/2006/relationships/image" Target="../media/image-10-2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0823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Global Air Quality &amp; Pollutant Analytics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068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Uncovering Multi-Pollutant Drivers and Regional Disparities Across 23,000+ Global Cities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319909"/>
            <a:ext cx="3098602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3E2513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81174" y="3362399"/>
            <a:ext cx="338569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VISUALIZATION · SUMMER 2026 FINAL PROJECT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8793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Executive Summary &amp; Project Objectives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586508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This project analyzes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PM₂.₅, O₃, NO₂, and CO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across 175 countries — transitioning from passive air monitoring to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actionable, explanatory visual storytelling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426419"/>
            <a:ext cx="2290465" cy="1270471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066877" y="2568178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Analysis Notebook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66877" y="2874690"/>
            <a:ext cx="20069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Exploratory analysis and statistical modeling via Plotly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2426419"/>
            <a:ext cx="2290539" cy="1270471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99101" y="2568178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Interactive Dashboard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9101" y="2874690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Live Streamlit app with dynamic filters and KPI metrics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838649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066877" y="3980408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Executive Deck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66877" y="4286920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Policy-ready findings for analysts and decision-makers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Dataset Scope &amp; Dimensions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78991"/>
            <a:ext cx="5202138" cy="2926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8649" y="2198489"/>
            <a:ext cx="2673921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Source: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Global Air Pollution Dataset (WAQI / Open Data) — one of the most comprehensive open air quality repositories available.</a:t>
            </a:r>
            <a:endParaRPr lang="en-US" sz="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107582"/>
            <a:ext cx="2657252" cy="6473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0517" y="4234830"/>
            <a:ext cx="234560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Spatial Coverage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80517" y="4465290"/>
            <a:ext cx="234560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175 countries · 23,000+ cities worldwide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3337" y="4107582"/>
            <a:ext cx="2657252" cy="6473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7735" y="4234830"/>
            <a:ext cx="234560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Numerical Dimensions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3427735" y="4465290"/>
            <a:ext cx="234560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AQI values for PM₂.₅, O₃, NO₂, and CO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0555" y="4107582"/>
            <a:ext cx="2657326" cy="6473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74953" y="4234830"/>
            <a:ext cx="234568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Categorical Tiers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6174953" y="4465290"/>
            <a:ext cx="234568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Good · Moderate · Unhealthy · Hazardous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3744"/>
            <a:ext cx="993056" cy="215354"/>
          </a:xfrm>
          <a:prstGeom prst="roundRect">
            <a:avLst>
              <a:gd name="adj" fmla="val 7900"/>
            </a:avLst>
          </a:prstGeom>
          <a:solidFill>
            <a:srgbClr val="F3E3D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1174" y="586234"/>
            <a:ext cx="128014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KEY FINDING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158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Dominant Pollutant Driver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30859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1314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Core Insight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1976363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Fine Particulate Matter (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PM₂.₅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) is the primary driver of severe AQI in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over 78% of global cities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dwarfing all other pollutants combined.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49701" y="2816275"/>
            <a:ext cx="3902943" cy="1006376"/>
          </a:xfrm>
          <a:prstGeom prst="roundRect">
            <a:avLst>
              <a:gd name="adj" fmla="val 2113"/>
            </a:avLst>
          </a:prstGeom>
          <a:solidFill>
            <a:srgbClr val="F3E3D8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031331"/>
            <a:ext cx="177180" cy="14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0398" y="2979241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Policy interventions targeting ambient particulate dust yield the highest global health return per dollar invested.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3744"/>
            <a:ext cx="993056" cy="215354"/>
          </a:xfrm>
          <a:prstGeom prst="roundRect">
            <a:avLst>
              <a:gd name="adj" fmla="val 7900"/>
            </a:avLst>
          </a:prstGeom>
          <a:solidFill>
            <a:srgbClr val="F3E3D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1174" y="586234"/>
            <a:ext cx="128014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KEY FINDING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158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National Severity &amp; Regional Disparities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30859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1314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Core Insight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1976363"/>
            <a:ext cx="3902943" cy="14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South Asian and developing nations exhibit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significantly higher median PM₂.₅ baseline levels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compared to Western nations. India's median AQI is over 6× Germany's.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 intra-country variance reflects stark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industrial vs. rural air quality divides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a single national average masks critical sub-regional risk.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3744"/>
            <a:ext cx="993056" cy="215354"/>
          </a:xfrm>
          <a:prstGeom prst="roundRect">
            <a:avLst>
              <a:gd name="adj" fmla="val 7900"/>
            </a:avLst>
          </a:prstGeom>
          <a:solidFill>
            <a:srgbClr val="F3E3D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1174" y="586234"/>
            <a:ext cx="128014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KEY FINDING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158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Photochemical &amp; Gas Dynamics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30859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1314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Core Insight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1976363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Ozone (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O₃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) concentrations scale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non-linearly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and frequently spike independently of urban NO₂ levels — decoupling from direct vehicle exhaust patterns.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49701" y="2816275"/>
            <a:ext cx="3902943" cy="1233190"/>
          </a:xfrm>
          <a:prstGeom prst="roundRect">
            <a:avLst>
              <a:gd name="adj" fmla="val 1724"/>
            </a:avLst>
          </a:prstGeom>
          <a:solidFill>
            <a:srgbClr val="B6D6FC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031331"/>
            <a:ext cx="177180" cy="14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0398" y="2979241"/>
            <a:ext cx="330048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Photochemical ozone buildup poses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distinct seasonal threats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separate from combustion-based pollutants, requiring different mitigation strategies.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3744"/>
            <a:ext cx="993056" cy="215354"/>
          </a:xfrm>
          <a:prstGeom prst="roundRect">
            <a:avLst>
              <a:gd name="adj" fmla="val 7900"/>
            </a:avLst>
          </a:prstGeom>
          <a:solidFill>
            <a:srgbClr val="F3E3D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1174" y="586234"/>
            <a:ext cx="128014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KEY FINDING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158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Combustion &amp; Outlier Profiles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30859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1314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Core Insight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1976363"/>
            <a:ext cx="3902943" cy="14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Severe Carbon Monoxide (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CO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) spikes above 10 AQI almost exclusively coincide with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extreme PM₂.₅ hazardous events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a strong compound signature.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Industrial facilities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forest fire combustion events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trigger simultaneous multi-pollutant spikes, creating acute compound exposure risk for nearby populations.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68449"/>
            <a:ext cx="4722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Interactive Dashboard Overview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96119" y="1081088"/>
            <a:ext cx="47227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Built with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Streamlit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and deployed live on Streamlit Community Cloud — enabling real-time exploration of global air quality patterns without coding.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33748"/>
            <a:ext cx="234776" cy="2347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6119" y="1890043"/>
            <a:ext cx="4722763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Dynamic Filters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96119" y="2131740"/>
            <a:ext cx="47227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Country multiselectors and AQI severity category filters for targeted analysis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497857"/>
            <a:ext cx="234776" cy="2347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6119" y="2854151"/>
            <a:ext cx="4722763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Live KPI Metrics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496119" y="3095848"/>
            <a:ext cx="47227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Dynamic key performance indicators that update in real time with every filter selection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633639"/>
            <a:ext cx="234776" cy="2347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6119" y="3989933"/>
            <a:ext cx="4722763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Tabbed Plotly Views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496119" y="4231630"/>
            <a:ext cx="47227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Multi-chart analytical views — scatter, box, bar, and map — organized in intuitive tabs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0124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Recommendations &amp; Policy Takeaways</a:t>
            </a:r>
            <a:endParaRPr lang="en-US" sz="2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97571"/>
            <a:ext cx="4722763" cy="11688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3745" y="1859459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1153641" y="1542529"/>
            <a:ext cx="392028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Targeted Dust Suppression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1153641" y="1818903"/>
            <a:ext cx="3920282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Priority funding must focus on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PM₂.₅ abatement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in high-density urban corridors — the single highest-impact intervention globally.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686869"/>
            <a:ext cx="4722763" cy="96797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3745" y="3048298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1153641" y="2831827"/>
            <a:ext cx="392028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Localized Sub-Regional Monitoring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1153641" y="3108201"/>
            <a:ext cx="392028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Addressing internal country AQI disparity requires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granular monitoring stations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that capture industrial vs. rural divides.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775323"/>
            <a:ext cx="4722763" cy="9679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3745" y="4136752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1153641" y="3920282"/>
            <a:ext cx="392028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Public Transparency &amp; Access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1153641" y="4196655"/>
            <a:ext cx="392028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interactive dashboards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empower community-level health awareness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and hold regulators accountable.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030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 &amp; Project Links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225897"/>
            <a:ext cx="4107135" cy="3347219"/>
          </a:xfrm>
          <a:prstGeom prst="roundRect">
            <a:avLst>
              <a:gd name="adj" fmla="val 635"/>
            </a:avLst>
          </a:prstGeom>
          <a:solidFill>
            <a:srgbClr val="3E251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35781" y="1367656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One Dataset. One Story.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1730871"/>
            <a:ext cx="382361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One dataset, 10+ analytical questions, and one cohesive global air quality narrative — from raw data to policy-ready insight.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5781" y="2538859"/>
            <a:ext cx="382361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GitHub Repository: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u="sng" dirty="0">
                <a:solidFill>
                  <a:srgbClr val="CF9063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https://github.com/rajkumarp0797/dataviz-exercise-Rajkumar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367656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Takeaways</a:t>
            </a:r>
            <a:endParaRPr lang="en-US" sz="13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1755651"/>
            <a:ext cx="212601" cy="2126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0398" y="1748582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PM₂.₅ dominates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78% of severe AQI events globally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2832" y="2492797"/>
            <a:ext cx="212601" cy="2126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0398" y="2485727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Regional disparity is vast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South Asia vs. Western Europe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02832" y="3229942"/>
            <a:ext cx="212601" cy="2126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10398" y="3222873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O₃ behaves independently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photochemical, not combustion-driven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02832" y="3967088"/>
            <a:ext cx="212601" cy="21260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0398" y="3960019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CO + PM₂.₅ co-spike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compound combustion event signature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CF9063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2026-07-29T22:42:55Z</dcterms:created>
  <dcterms:modified xsi:type="dcterms:W3CDTF">2026-07-29T22:42:55Z</dcterms:modified>
</cp:coreProperties>
</file>